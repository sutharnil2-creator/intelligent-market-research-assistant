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83" r:id="rId2"/>
    <p:sldId id="257" r:id="rId3"/>
    <p:sldId id="282" r:id="rId4"/>
    <p:sldId id="285" r:id="rId5"/>
    <p:sldId id="278" r:id="rId6"/>
    <p:sldId id="281" r:id="rId7"/>
    <p:sldId id="264" r:id="rId8"/>
    <p:sldId id="286" r:id="rId9"/>
    <p:sldId id="287" r:id="rId10"/>
    <p:sldId id="280" r:id="rId11"/>
    <p:sldId id="288" r:id="rId12"/>
    <p:sldId id="289" r:id="rId13"/>
    <p:sldId id="27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CDCB8-E336-06C9-9BC1-C212CD122CD0}" v="1" dt="2026-06-23T04:41:50.19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83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sutharnil2-creator/Intelligent-Market-Research-Assistant"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94533840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US" sz="2000" dirty="0"/>
                    </a:p>
                    <a:p>
                      <a:pPr marL="0" marR="0" lvl="0" indent="0" algn="l" rtl="0">
                        <a:spcBef>
                          <a:spcPts val="0"/>
                        </a:spcBef>
                        <a:spcAft>
                          <a:spcPts val="0"/>
                        </a:spcAft>
                        <a:buNone/>
                      </a:pPr>
                      <a:r>
                        <a:rPr lang="en-US" sz="2000" dirty="0"/>
                        <a:t>Suthar Nilkumar </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sz="1600" dirty="0"/>
                    </a:p>
                    <a:p>
                      <a:pPr marL="0" marR="0" lvl="0" indent="0" algn="l" rtl="0">
                        <a:spcBef>
                          <a:spcPts val="0"/>
                        </a:spcBef>
                        <a:spcAft>
                          <a:spcPts val="0"/>
                        </a:spcAft>
                        <a:buNone/>
                      </a:pPr>
                      <a:r>
                        <a:rPr lang="en-US" sz="2000" dirty="0"/>
                        <a:t>sutharnil2@gmail.com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sz="2000" dirty="0"/>
                    </a:p>
                    <a:p>
                      <a:pPr marL="0" marR="0" lvl="0" indent="0" algn="l" rtl="0">
                        <a:spcBef>
                          <a:spcPts val="0"/>
                        </a:spcBef>
                        <a:spcAft>
                          <a:spcPts val="0"/>
                        </a:spcAft>
                        <a:buNone/>
                      </a:pPr>
                      <a:r>
                        <a:rPr lang="en-US" sz="2000" dirty="0"/>
                        <a:t>9016333405</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523220"/>
          </a:xfrm>
          <a:prstGeom prst="rect">
            <a:avLst/>
          </a:prstGeom>
          <a:noFill/>
        </p:spPr>
        <p:txBody>
          <a:bodyPr wrap="square" rtlCol="0">
            <a:spAutoFit/>
          </a:bodyPr>
          <a:lstStyle/>
          <a:p>
            <a:r>
              <a:rPr lang="en-US" sz="2400" b="1" dirty="0"/>
              <a:t>Domain of  Project – </a:t>
            </a:r>
            <a:r>
              <a:rPr lang="en-US" sz="2400" b="1" dirty="0">
                <a:highlight>
                  <a:srgbClr val="FFFF00"/>
                </a:highlight>
              </a:rPr>
              <a:t>[</a:t>
            </a:r>
            <a:r>
              <a:rPr lang="en-IN" sz="2800" b="1" dirty="0">
                <a:highlight>
                  <a:srgbClr val="FFFF00"/>
                </a:highlight>
              </a:rPr>
              <a:t>Independent</a:t>
            </a:r>
            <a:r>
              <a:rPr lang="en-US" sz="2400" b="1" dirty="0">
                <a:highlight>
                  <a:srgbClr val="FFFF00"/>
                </a:highlight>
              </a:rPr>
              <a:t>]</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800" b="1" dirty="0"/>
              <a:t>Project Tile </a:t>
            </a:r>
            <a:r>
              <a:rPr lang="en-US" sz="2400" b="1" dirty="0"/>
              <a:t>– </a:t>
            </a:r>
            <a:r>
              <a:rPr lang="en-US" sz="2400" b="1" dirty="0">
                <a:highlight>
                  <a:srgbClr val="FFFF00"/>
                </a:highlight>
              </a:rPr>
              <a:t>[</a:t>
            </a:r>
            <a:r>
              <a:rPr lang="en-IN" sz="2800" b="1" i="0" dirty="0">
                <a:solidFill>
                  <a:schemeClr val="tx1"/>
                </a:solidFill>
                <a:effectLst/>
                <a:highlight>
                  <a:srgbClr val="FFFF00"/>
                </a:highlight>
                <a:latin typeface="Arial" panose="020B0604020202020204" pitchFamily="34" charset="0"/>
                <a:cs typeface="Arial" panose="020B0604020202020204" pitchFamily="34" charset="0"/>
              </a:rPr>
              <a:t>Intelligent</a:t>
            </a:r>
            <a:r>
              <a:rPr lang="en-IN" sz="2800" b="1" i="0" dirty="0">
                <a:solidFill>
                  <a:schemeClr val="tx1"/>
                </a:solidFill>
                <a:effectLst/>
                <a:highlight>
                  <a:srgbClr val="FFFF00"/>
                </a:highlight>
                <a:latin typeface="-apple-system"/>
              </a:rPr>
              <a:t> Market Research Assistant</a:t>
            </a:r>
            <a:r>
              <a:rPr lang="en-US" sz="2400" b="1" dirty="0">
                <a:highlight>
                  <a:srgbClr val="FFFF00"/>
                </a:highlight>
              </a:rPr>
              <a:t>]</a:t>
            </a:r>
            <a:endParaRPr lang="en-IN" sz="2400" b="1" dirty="0">
              <a:highlight>
                <a:srgbClr val="FFFF00"/>
              </a:highlight>
            </a:endParaRPr>
          </a:p>
        </p:txBody>
      </p:sp>
      <p:pic>
        <p:nvPicPr>
          <p:cNvPr id="5" name="Picture 4">
            <a:extLst>
              <a:ext uri="{FF2B5EF4-FFF2-40B4-BE49-F238E27FC236}">
                <a16:creationId xmlns:a16="http://schemas.microsoft.com/office/drawing/2014/main" id="{C4A73DF0-51D4-4B1E-956D-C6BD4740F8D6}"/>
              </a:ext>
            </a:extLst>
          </p:cNvPr>
          <p:cNvPicPr>
            <a:picLocks noChangeAspect="1"/>
          </p:cNvPicPr>
          <p:nvPr/>
        </p:nvPicPr>
        <p:blipFill>
          <a:blip r:embed="rId3"/>
          <a:stretch>
            <a:fillRect/>
          </a:stretch>
        </p:blipFill>
        <p:spPr>
          <a:xfrm>
            <a:off x="4238981" y="3683879"/>
            <a:ext cx="890232" cy="95635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a:t>Problem Statement : Nutrition Agent</a:t>
            </a:r>
            <a:r>
              <a:rPr lang="en-US"/>
              <a:t> </a:t>
            </a:r>
          </a:p>
          <a:p>
            <a:pPr fontAlgn="base"/>
            <a:endParaRPr lang="en-US" b="1"/>
          </a:p>
          <a:p>
            <a:pPr fontAlgn="base"/>
            <a:r>
              <a:rPr lang="en-US" b="1"/>
              <a:t>The Challenge</a:t>
            </a:r>
            <a:r>
              <a:rPr lang="en-US"/>
              <a:t> </a:t>
            </a:r>
          </a:p>
          <a:p>
            <a:pPr fontAlgn="base"/>
            <a:r>
              <a:rPr lang="en-US"/>
              <a:t>Good nutrition is the foundation of health, but individuals often struggle with </a:t>
            </a:r>
            <a:r>
              <a:rPr lang="en-US" b="1"/>
              <a:t>diet planning, portion control, and tracking nutritional intake</a:t>
            </a:r>
            <a:r>
              <a:rPr lang="en-US"/>
              <a:t>. Information about healthy diets, disease-specific nutrition, and food composition is scattered across unreliable sources. Without </a:t>
            </a:r>
            <a:r>
              <a:rPr lang="en-US" b="1"/>
              <a:t>personalized, real-time guidance</a:t>
            </a:r>
            <a:r>
              <a:rPr lang="en-US"/>
              <a:t>, many fail to maintain balanced diets or make informed food choices. </a:t>
            </a:r>
          </a:p>
          <a:p>
            <a:pPr fontAlgn="base"/>
            <a:endParaRPr lang="en-US"/>
          </a:p>
          <a:p>
            <a:pPr fontAlgn="base"/>
            <a:r>
              <a:rPr lang="en-US" b="1"/>
              <a:t>The Objective</a:t>
            </a:r>
            <a:r>
              <a:rPr lang="en-US"/>
              <a:t> </a:t>
            </a:r>
          </a:p>
          <a:p>
            <a:pPr fontAlgn="base"/>
            <a:r>
              <a:rPr lang="en-US"/>
              <a:t>Build an </a:t>
            </a:r>
            <a:r>
              <a:rPr lang="en-US" b="1"/>
              <a:t>AI-powered Nutrition Agent</a:t>
            </a:r>
            <a:r>
              <a:rPr lang="en-US"/>
              <a:t> that delivers </a:t>
            </a:r>
            <a:r>
              <a:rPr lang="en-US" b="1"/>
              <a:t>personalized dietary insights and guidance</a:t>
            </a:r>
            <a:r>
              <a:rPr lang="en-US"/>
              <a:t> for individuals, families, and health professionals. The solution should: </a:t>
            </a:r>
          </a:p>
          <a:p>
            <a:pPr marL="285750" indent="-285750" fontAlgn="base">
              <a:buFont typeface="Arial" panose="020B0604020202020204" pitchFamily="34" charset="0"/>
              <a:buChar char="•"/>
            </a:pPr>
            <a:r>
              <a:rPr lang="en-US" b="1"/>
              <a:t>Personalized Diet Plans</a:t>
            </a:r>
            <a:r>
              <a:rPr lang="en-US"/>
              <a:t> – Recommend meals based on age, health conditions, allergies, cultural preferences, and fitness goals. </a:t>
            </a:r>
          </a:p>
          <a:p>
            <a:pPr marL="285750" indent="-285750" fontAlgn="base">
              <a:buFont typeface="Arial" panose="020B0604020202020204" pitchFamily="34" charset="0"/>
              <a:buChar char="•"/>
            </a:pPr>
            <a:r>
              <a:rPr lang="en-US" b="1"/>
              <a:t>Food Data RAG Retrieval</a:t>
            </a:r>
            <a:r>
              <a:rPr lang="en-US"/>
              <a:t> – Fetch and summarize nutritional values (calories, macros, vitamins) from reliable sources. </a:t>
            </a:r>
          </a:p>
          <a:p>
            <a:pPr marL="285750" indent="-285750" fontAlgn="base">
              <a:buFont typeface="Arial" panose="020B0604020202020204" pitchFamily="34" charset="0"/>
              <a:buChar char="•"/>
            </a:pPr>
            <a:r>
              <a:rPr lang="en-US" b="1"/>
              <a:t>Diet Tracking &amp; Feedback</a:t>
            </a:r>
            <a:r>
              <a:rPr lang="en-US"/>
              <a:t> – Allow users to log meals via text, images, or voice, and provide instant nutritional analysis. </a:t>
            </a:r>
          </a:p>
          <a:p>
            <a:pPr marL="285750" indent="-285750" fontAlgn="base">
              <a:buFont typeface="Arial" panose="020B0604020202020204" pitchFamily="34" charset="0"/>
              <a:buChar char="•"/>
            </a:pPr>
            <a:r>
              <a:rPr lang="en-US" b="1"/>
              <a:t>Preventive Health Focus</a:t>
            </a:r>
            <a:r>
              <a:rPr lang="en-US"/>
              <a:t> – Suggest diets for chronic disease management (e.g., diabetes-friendly or heart-healthy plans). </a:t>
            </a:r>
          </a:p>
          <a:p>
            <a:pPr marL="285750" indent="-285750" fontAlgn="base">
              <a:buFont typeface="Arial" panose="020B0604020202020204" pitchFamily="34" charset="0"/>
              <a:buChar char="•"/>
            </a:pPr>
            <a:r>
              <a:rPr lang="en-US" b="1"/>
              <a:t>Multi-Agent System</a:t>
            </a:r>
            <a:r>
              <a:rPr lang="en-US"/>
              <a:t> – </a:t>
            </a:r>
          </a:p>
          <a:p>
            <a:pPr marL="285750" indent="-285750" fontAlgn="base">
              <a:buFont typeface="Arial" panose="020B0604020202020204" pitchFamily="34" charset="0"/>
              <a:buChar char="•"/>
            </a:pPr>
            <a:r>
              <a:rPr lang="en-US" b="1"/>
              <a:t>Nutrition Knowledge Agent</a:t>
            </a:r>
            <a:r>
              <a:rPr lang="en-US"/>
              <a:t> (fetches nutritional data) </a:t>
            </a:r>
          </a:p>
          <a:p>
            <a:pPr marL="285750" indent="-285750" fontAlgn="base">
              <a:buFont typeface="Arial" panose="020B0604020202020204" pitchFamily="34" charset="0"/>
              <a:buChar char="•"/>
            </a:pPr>
            <a:r>
              <a:rPr lang="en-US" b="1"/>
              <a:t>Diet Recommendation Agent</a:t>
            </a:r>
            <a:r>
              <a:rPr lang="en-US"/>
              <a:t> (personalized meal plans) </a:t>
            </a:r>
          </a:p>
          <a:p>
            <a:pPr marL="285750" indent="-285750" fontAlgn="base">
              <a:buFont typeface="Arial" panose="020B0604020202020204" pitchFamily="34" charset="0"/>
              <a:buChar char="•"/>
            </a:pPr>
            <a:r>
              <a:rPr lang="en-US" b="1"/>
              <a:t>Health Advisory Agent</a:t>
            </a:r>
            <a:r>
              <a:rPr lang="en-US"/>
              <a:t> (preventive health suggestions) </a:t>
            </a:r>
          </a:p>
          <a:p>
            <a:pPr marL="285750" indent="-285750" fontAlgn="base">
              <a:buFont typeface="Arial" panose="020B0604020202020204" pitchFamily="34" charset="0"/>
              <a:buChar char="•"/>
            </a:pPr>
            <a:r>
              <a:rPr lang="en-US" b="1"/>
              <a:t>Food Log &amp; Feedback Agent</a:t>
            </a:r>
            <a:r>
              <a:rPr lang="en-US"/>
              <a:t> (meal tracking + analysis) </a:t>
            </a:r>
          </a:p>
          <a:p>
            <a:pPr marL="285750" indent="-285750" fontAlgn="base">
              <a:buFont typeface="Arial" panose="020B0604020202020204" pitchFamily="34" charset="0"/>
              <a:buChar char="•"/>
            </a:pPr>
            <a:r>
              <a:rPr lang="en-US" b="1"/>
              <a:t>Visualization Dashboard</a:t>
            </a:r>
            <a:r>
              <a:rPr lang="en-US"/>
              <a:t> – Show daily/weekly nutrient intake, deficiencies, and progress toward health goals. </a:t>
            </a:r>
          </a:p>
          <a:p>
            <a:pPr fontAlgn="base"/>
            <a:endParaRPr lang="en-US"/>
          </a:p>
          <a:p>
            <a:endParaRPr lang="en-IN"/>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625977"/>
            <a:ext cx="10607040" cy="4493538"/>
          </a:xfrm>
          <a:prstGeom prst="rect">
            <a:avLst/>
          </a:prstGeom>
          <a:noFill/>
        </p:spPr>
        <p:txBody>
          <a:bodyPr wrap="square" rtlCol="0">
            <a:spAutoFit/>
          </a:bodyPr>
          <a:lstStyle/>
          <a:p>
            <a:r>
              <a:rPr lang="en-US" sz="1600" dirty="0"/>
              <a:t>Our proposed solution is an AI-powered market intelligence platform that helps organizations make faster and smarter business decisions by transforming scattered market information into meaningful insights.</a:t>
            </a:r>
          </a:p>
          <a:p>
            <a:endParaRPr lang="en-US" sz="1600" dirty="0"/>
          </a:p>
          <a:p>
            <a:r>
              <a:rPr lang="en-US" sz="1600" dirty="0"/>
              <a:t>The platform automatically collects data from multiple trusted sources, including news websites, social media, customer reviews, analyst reports, PDFs, CSV files, and other business documents. Using IBM watsonx.ai and IBM Granite LLM, the system analyzes this information to identify market trends, customer sentiment, competitor activities, risks, and emerging opportunities.</a:t>
            </a:r>
          </a:p>
          <a:p>
            <a:endParaRPr lang="en-US" sz="1600" dirty="0"/>
          </a:p>
          <a:p>
            <a:r>
              <a:rPr lang="en-US" sz="1600" dirty="0"/>
              <a:t>A Retrieval-Augmented Generation (RAG) pipeline powered by </a:t>
            </a:r>
            <a:r>
              <a:rPr lang="en-US" sz="1600" dirty="0" err="1"/>
              <a:t>ChromaDB</a:t>
            </a:r>
            <a:r>
              <a:rPr lang="en-US" sz="1600" dirty="0"/>
              <a:t> enables users to upload their own documents and ask natural language questions, receiving accurate, context-aware answers. IBM Orchestrate coordinates multiple AI agents to perform data collection, sentiment analysis, competitor analysis, forecasting, and report generation.</a:t>
            </a:r>
          </a:p>
          <a:p>
            <a:endParaRPr lang="en-US" sz="1600" dirty="0"/>
          </a:p>
          <a:p>
            <a:r>
              <a:rPr lang="en-US" sz="1600" dirty="0"/>
              <a:t>Interactive dashboards present insights through charts, graphs, heatmaps, and KPI cards, allowing decision-makers to monitor business performance in real time. The platform also generates AI-powered reports in PDF, DOCX, and PPT formats and provides predictive analytics to forecast future market demand, customer behavior, and business risks.</a:t>
            </a:r>
          </a:p>
          <a:p>
            <a:endParaRPr lang="en-US"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534353" y="470345"/>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708981"/>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dirty="0"/>
              <a:t>Our </a:t>
            </a:r>
            <a:r>
              <a:rPr lang="en-US" sz="1800" b="1" dirty="0"/>
              <a:t>Intelligent Market Research Assistant</a:t>
            </a:r>
            <a:r>
              <a:rPr lang="en-US" sz="1800" dirty="0"/>
              <a:t> is built using modern AI, cloud, and full-stack technologies to provide scalable, secure, and intelligent market analysis. The platform integrates IBM </a:t>
            </a:r>
            <a:r>
              <a:rPr lang="en-US" sz="1800" dirty="0" err="1"/>
              <a:t>watsonx</a:t>
            </a:r>
            <a:r>
              <a:rPr lang="en-US" sz="1800" dirty="0"/>
              <a:t> AI services with a robust backend, interactive frontend, and advanced data processing tools.</a:t>
            </a:r>
          </a:p>
          <a:p>
            <a:pPr marL="285750" indent="-285750">
              <a:buFont typeface="Arial" panose="020B0604020202020204" pitchFamily="34" charset="0"/>
              <a:buChar char="•"/>
            </a:pPr>
            <a:endParaRPr lang="en-US" sz="1800" dirty="0"/>
          </a:p>
          <a:p>
            <a:r>
              <a:rPr lang="en-IN" sz="2000" b="1" dirty="0"/>
              <a:t> Artificial Intelligence:-</a:t>
            </a:r>
          </a:p>
          <a:p>
            <a:pPr>
              <a:buFont typeface="Arial" panose="020B0604020202020204" pitchFamily="34" charset="0"/>
              <a:buChar char="•"/>
            </a:pPr>
            <a:r>
              <a:rPr lang="en-IN" sz="2000" b="1" dirty="0"/>
              <a:t>IBM watsonx.ai</a:t>
            </a:r>
            <a:r>
              <a:rPr lang="en-IN" sz="2000" dirty="0"/>
              <a:t> – Provides enterprise-grade AI capabilities for natural language understanding, content generation, and intelligent decision-making. </a:t>
            </a:r>
          </a:p>
          <a:p>
            <a:pPr>
              <a:buFont typeface="Arial" panose="020B0604020202020204" pitchFamily="34" charset="0"/>
              <a:buChar char="•"/>
            </a:pPr>
            <a:r>
              <a:rPr lang="en-IN" sz="2000" b="1" dirty="0"/>
              <a:t>IBM Granite LLM</a:t>
            </a:r>
            <a:r>
              <a:rPr lang="en-IN" sz="2000" dirty="0"/>
              <a:t> – Powers market analysis, report generation, trend prediction, sentiment analysis, and chatbot responses. </a:t>
            </a:r>
          </a:p>
          <a:p>
            <a:pPr>
              <a:buFont typeface="Arial" panose="020B0604020202020204" pitchFamily="34" charset="0"/>
              <a:buChar char="•"/>
            </a:pPr>
            <a:r>
              <a:rPr lang="en-IN" sz="2000" b="1" dirty="0"/>
              <a:t>IBM Orchestrate</a:t>
            </a:r>
            <a:r>
              <a:rPr lang="en-IN" sz="2000" dirty="0"/>
              <a:t> – Coordinates multiple AI agents for automated workflows including data collection, competitor analysis, forecasting, and report generation. </a:t>
            </a:r>
          </a:p>
          <a:p>
            <a:pPr>
              <a:buFont typeface="Arial" panose="020B0604020202020204" pitchFamily="34" charset="0"/>
              <a:buChar char="•"/>
            </a:pPr>
            <a:r>
              <a:rPr lang="en-IN" sz="2000" b="1" dirty="0" err="1"/>
              <a:t>LangChain</a:t>
            </a:r>
            <a:r>
              <a:rPr lang="en-IN" sz="2000" dirty="0"/>
              <a:t> – Builds AI pipelines and connects Large Language Models with external data sources and tools.</a:t>
            </a:r>
          </a:p>
          <a:p>
            <a:endParaRPr lang="en-US" sz="1600"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860585" y="3820699"/>
            <a:ext cx="8823960" cy="181588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
        <p:nvSpPr>
          <p:cNvPr id="4" name="Rectangle 2">
            <a:extLst>
              <a:ext uri="{FF2B5EF4-FFF2-40B4-BE49-F238E27FC236}">
                <a16:creationId xmlns:a16="http://schemas.microsoft.com/office/drawing/2014/main" id="{DED6DDED-1FD7-4690-B49A-6F9096D73D36}"/>
              </a:ext>
            </a:extLst>
          </p:cNvPr>
          <p:cNvSpPr>
            <a:spLocks noChangeArrowheads="1"/>
          </p:cNvSpPr>
          <p:nvPr/>
        </p:nvSpPr>
        <p:spPr bwMode="auto">
          <a:xfrm>
            <a:off x="385763" y="1387852"/>
            <a:ext cx="9334607"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Chat Input</a:t>
            </a:r>
            <a:r>
              <a:rPr kumimoji="0" lang="en-US" altLang="en-US" sz="1800" b="0" i="0" u="none" strike="noStrike" cap="none" normalizeH="0" baseline="0" dirty="0">
                <a:ln>
                  <a:noFill/>
                </a:ln>
                <a:solidFill>
                  <a:schemeClr val="tx1"/>
                </a:solidFill>
                <a:effectLst/>
                <a:latin typeface="Arial" panose="020B0604020202020204" pitchFamily="34" charset="0"/>
              </a:rPr>
              <a:t> – Accepts user queries.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IBM Granite LLM</a:t>
            </a:r>
            <a:r>
              <a:rPr kumimoji="0" lang="en-US" altLang="en-US" sz="1800" b="0" i="0" u="none" strike="noStrike" cap="none" normalizeH="0" baseline="0" dirty="0">
                <a:ln>
                  <a:noFill/>
                </a:ln>
                <a:solidFill>
                  <a:schemeClr val="tx1"/>
                </a:solidFill>
                <a:effectLst/>
                <a:latin typeface="Arial" panose="020B0604020202020204" pitchFamily="34" charset="0"/>
              </a:rPr>
              <a:t> – Generates AI-powered market insights.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File Loader</a:t>
            </a:r>
            <a:r>
              <a:rPr kumimoji="0" lang="en-US" altLang="en-US" sz="1800" b="0" i="0" u="none" strike="noStrike" cap="none" normalizeH="0" baseline="0" dirty="0">
                <a:ln>
                  <a:noFill/>
                </a:ln>
                <a:solidFill>
                  <a:schemeClr val="tx1"/>
                </a:solidFill>
                <a:effectLst/>
                <a:latin typeface="Arial" panose="020B0604020202020204" pitchFamily="34" charset="0"/>
              </a:rPr>
              <a:t> – Uploads and reads PDFs, CSVs, and reports.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Text Splitter</a:t>
            </a:r>
            <a:r>
              <a:rPr kumimoji="0" lang="en-US" altLang="en-US" sz="1800" b="0" i="0" u="none" strike="noStrike" cap="none" normalizeH="0" baseline="0" dirty="0">
                <a:ln>
                  <a:noFill/>
                </a:ln>
                <a:solidFill>
                  <a:schemeClr val="tx1"/>
                </a:solidFill>
                <a:effectLst/>
                <a:latin typeface="Arial" panose="020B0604020202020204" pitchFamily="34" charset="0"/>
              </a:rPr>
              <a:t> – Splits documents into smaller chunks.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Embedding Model</a:t>
            </a:r>
            <a:r>
              <a:rPr kumimoji="0" lang="en-US" altLang="en-US" sz="1800" b="0" i="0" u="none" strike="noStrike" cap="none" normalizeH="0" baseline="0" dirty="0">
                <a:ln>
                  <a:noFill/>
                </a:ln>
                <a:solidFill>
                  <a:schemeClr val="tx1"/>
                </a:solidFill>
                <a:effectLst/>
                <a:latin typeface="Arial" panose="020B0604020202020204" pitchFamily="34" charset="0"/>
              </a:rPr>
              <a:t> – Converts text into vector embeddings.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ChromaDB</a:t>
            </a:r>
            <a:r>
              <a:rPr kumimoji="0" lang="en-US" altLang="en-US" sz="1800" b="0" i="0" u="none" strike="noStrike" cap="none" normalizeH="0" baseline="0" dirty="0">
                <a:ln>
                  <a:noFill/>
                </a:ln>
                <a:solidFill>
                  <a:schemeClr val="tx1"/>
                </a:solidFill>
                <a:effectLst/>
                <a:latin typeface="Arial" panose="020B0604020202020204" pitchFamily="34" charset="0"/>
              </a:rPr>
              <a:t> – Stores and retrieves document embeddings.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Retriever</a:t>
            </a:r>
            <a:r>
              <a:rPr kumimoji="0" lang="en-US" altLang="en-US" sz="1800" b="0" i="0" u="none" strike="noStrike" cap="none" normalizeH="0" baseline="0" dirty="0">
                <a:ln>
                  <a:noFill/>
                </a:ln>
                <a:solidFill>
                  <a:schemeClr val="tx1"/>
                </a:solidFill>
                <a:effectLst/>
                <a:latin typeface="Arial" panose="020B0604020202020204" pitchFamily="34" charset="0"/>
              </a:rPr>
              <a:t> – Fetches relevant information from the vector database.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Prompt Template</a:t>
            </a:r>
            <a:r>
              <a:rPr kumimoji="0" lang="en-US" altLang="en-US" sz="1800" b="0" i="0" u="none" strike="noStrike" cap="none" normalizeH="0" baseline="0" dirty="0">
                <a:ln>
                  <a:noFill/>
                </a:ln>
                <a:solidFill>
                  <a:schemeClr val="tx1"/>
                </a:solidFill>
                <a:effectLst/>
                <a:latin typeface="Arial" panose="020B0604020202020204" pitchFamily="34" charset="0"/>
              </a:rPr>
              <a:t> – Combines user query with retrieved context.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RAG Chain</a:t>
            </a:r>
            <a:r>
              <a:rPr kumimoji="0" lang="en-US" altLang="en-US" sz="1800" b="0" i="0" u="none" strike="noStrike" cap="none" normalizeH="0" baseline="0" dirty="0">
                <a:ln>
                  <a:noFill/>
                </a:ln>
                <a:solidFill>
                  <a:schemeClr val="tx1"/>
                </a:solidFill>
                <a:effectLst/>
                <a:latin typeface="Arial" panose="020B0604020202020204" pitchFamily="34" charset="0"/>
              </a:rPr>
              <a:t> – Produces accurate, context-aware responses.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API Connector</a:t>
            </a:r>
            <a:r>
              <a:rPr kumimoji="0" lang="en-US" altLang="en-US" sz="1800" b="0" i="0" u="none" strike="noStrike" cap="none" normalizeH="0" baseline="0" dirty="0">
                <a:ln>
                  <a:noFill/>
                </a:ln>
                <a:solidFill>
                  <a:schemeClr val="tx1"/>
                </a:solidFill>
                <a:effectLst/>
                <a:latin typeface="Arial" panose="020B0604020202020204" pitchFamily="34" charset="0"/>
              </a:rPr>
              <a:t> – Collects data from news, social media, and market sources.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Output Component</a:t>
            </a:r>
            <a:r>
              <a:rPr kumimoji="0" lang="en-US" altLang="en-US" sz="1800" b="0" i="0" u="none" strike="noStrike" cap="none" normalizeH="0" baseline="0" dirty="0">
                <a:ln>
                  <a:noFill/>
                </a:ln>
                <a:solidFill>
                  <a:schemeClr val="tx1"/>
                </a:solidFill>
                <a:effectLst/>
                <a:latin typeface="Arial" panose="020B0604020202020204" pitchFamily="34" charset="0"/>
              </a:rPr>
              <a:t> – Displays insights, predictions, reports, and chatbot responses. </a:t>
            </a: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293209"/>
          </a:xfrm>
          <a:prstGeom prst="rect">
            <a:avLst/>
          </a:prstGeom>
          <a:noFill/>
        </p:spPr>
        <p:txBody>
          <a:bodyPr wrap="square" rtlCol="0">
            <a:spAutoFit/>
          </a:bodyPr>
          <a:lstStyle/>
          <a:p>
            <a:r>
              <a:rPr lang="en-US" sz="1600" b="1" dirty="0"/>
              <a:t>Role of Agentic AI in the Solution:-</a:t>
            </a:r>
          </a:p>
          <a:p>
            <a:r>
              <a:rPr lang="en-US" sz="1600" dirty="0"/>
              <a:t>Agentic AI enables the </a:t>
            </a:r>
            <a:r>
              <a:rPr lang="en-US" sz="1600" b="1" dirty="0"/>
              <a:t>Intelligent Market Research Assistant</a:t>
            </a:r>
            <a:r>
              <a:rPr lang="en-US" sz="1600" dirty="0"/>
              <a:t> to perform tasks autonomously using multiple specialized AI agents. Each agent is responsible for a specific function, working together to deliver accurate and actionable market insights.</a:t>
            </a:r>
          </a:p>
          <a:p>
            <a:endParaRPr lang="en-US" sz="1600" dirty="0"/>
          </a:p>
          <a:p>
            <a:r>
              <a:rPr lang="en-US" sz="1600" b="1" dirty="0"/>
              <a:t>AI Agents:-</a:t>
            </a:r>
          </a:p>
          <a:p>
            <a:pPr>
              <a:buFont typeface="Arial" panose="020B0604020202020204" pitchFamily="34" charset="0"/>
              <a:buChar char="•"/>
            </a:pPr>
            <a:r>
              <a:rPr lang="en-US" sz="1600" dirty="0"/>
              <a:t> </a:t>
            </a:r>
            <a:r>
              <a:rPr lang="en-US" sz="1600" b="1" dirty="0"/>
              <a:t>News Agent</a:t>
            </a:r>
            <a:r>
              <a:rPr lang="en-US" sz="1600" dirty="0"/>
              <a:t> – Collects and summarizes market news. </a:t>
            </a:r>
          </a:p>
          <a:p>
            <a:pPr>
              <a:buFont typeface="Arial" panose="020B0604020202020204" pitchFamily="34" charset="0"/>
              <a:buChar char="•"/>
            </a:pPr>
            <a:r>
              <a:rPr lang="en-US" sz="1600" dirty="0"/>
              <a:t> </a:t>
            </a:r>
            <a:r>
              <a:rPr lang="en-US" sz="1600" b="1" dirty="0"/>
              <a:t>Social Media Agent</a:t>
            </a:r>
            <a:r>
              <a:rPr lang="en-US" sz="1600" dirty="0"/>
              <a:t> – Monitors social media trends and customer opinions. </a:t>
            </a:r>
          </a:p>
          <a:p>
            <a:pPr>
              <a:buFont typeface="Arial" panose="020B0604020202020204" pitchFamily="34" charset="0"/>
              <a:buChar char="•"/>
            </a:pPr>
            <a:r>
              <a:rPr lang="en-US" sz="1600" dirty="0"/>
              <a:t> </a:t>
            </a:r>
            <a:r>
              <a:rPr lang="en-US" sz="1600" b="1" dirty="0"/>
              <a:t>Sentiment Agent</a:t>
            </a:r>
            <a:r>
              <a:rPr lang="en-US" sz="1600" dirty="0"/>
              <a:t> – Analyzes positive, negative, and neutral sentiments. </a:t>
            </a:r>
          </a:p>
          <a:p>
            <a:pPr>
              <a:buFont typeface="Arial" panose="020B0604020202020204" pitchFamily="34" charset="0"/>
              <a:buChar char="•"/>
            </a:pPr>
            <a:r>
              <a:rPr lang="en-US" sz="1600" dirty="0"/>
              <a:t> </a:t>
            </a:r>
            <a:r>
              <a:rPr lang="en-US" sz="1600" b="1" dirty="0"/>
              <a:t>Competitor Agent</a:t>
            </a:r>
            <a:r>
              <a:rPr lang="en-US" sz="1600" dirty="0"/>
              <a:t> – Tracks competitor activities and market position. </a:t>
            </a:r>
          </a:p>
          <a:p>
            <a:pPr>
              <a:buFont typeface="Arial" panose="020B0604020202020204" pitchFamily="34" charset="0"/>
              <a:buChar char="•"/>
            </a:pPr>
            <a:r>
              <a:rPr lang="en-US" sz="1600" dirty="0"/>
              <a:t> </a:t>
            </a:r>
            <a:r>
              <a:rPr lang="en-US" sz="1600" b="1" dirty="0"/>
              <a:t>Forecast Agent</a:t>
            </a:r>
            <a:r>
              <a:rPr lang="en-US" sz="1600" dirty="0"/>
              <a:t> – Predicts market trends, demand, and business risks. </a:t>
            </a:r>
          </a:p>
          <a:p>
            <a:pPr>
              <a:buFont typeface="Arial" panose="020B0604020202020204" pitchFamily="34" charset="0"/>
              <a:buChar char="•"/>
            </a:pPr>
            <a:r>
              <a:rPr lang="en-US" sz="1600" dirty="0"/>
              <a:t> </a:t>
            </a:r>
            <a:r>
              <a:rPr lang="en-US" sz="1600" b="1" dirty="0"/>
              <a:t>Report Agent</a:t>
            </a:r>
            <a:r>
              <a:rPr lang="en-US" sz="1600" dirty="0"/>
              <a:t> – Generates AI-powered reports and recommendations</a:t>
            </a:r>
            <a:r>
              <a:rPr lang="en-US"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185761"/>
          </a:xfrm>
          <a:prstGeom prst="rect">
            <a:avLst/>
          </a:prstGeom>
          <a:noFill/>
        </p:spPr>
        <p:txBody>
          <a:bodyPr wrap="square" rtlCol="0">
            <a:spAutoFit/>
          </a:bodyPr>
          <a:lstStyle/>
          <a:p>
            <a:r>
              <a:rPr lang="en-IN" sz="1800" dirty="0"/>
              <a:t>Our </a:t>
            </a:r>
            <a:r>
              <a:rPr lang="en-IN" sz="1800" b="1" dirty="0"/>
              <a:t>Intelligent Market Research Assistant</a:t>
            </a:r>
            <a:r>
              <a:rPr lang="en-IN" sz="1800" dirty="0"/>
              <a:t> stands out by combining </a:t>
            </a:r>
            <a:r>
              <a:rPr lang="en-IN" sz="1800" b="1" dirty="0"/>
              <a:t>Agentic AI, RAG, and IBM watsonx.ai</a:t>
            </a:r>
            <a:r>
              <a:rPr lang="en-IN" sz="1800" dirty="0"/>
              <a:t> into a single intelligent platform for automated market research.</a:t>
            </a:r>
          </a:p>
          <a:p>
            <a:r>
              <a:rPr lang="en-IN" sz="1800" b="1" dirty="0"/>
              <a:t>Key Unique Features</a:t>
            </a:r>
          </a:p>
          <a:p>
            <a:pPr>
              <a:buFont typeface="Arial" panose="020B0604020202020204" pitchFamily="34" charset="0"/>
              <a:buChar char="•"/>
            </a:pPr>
            <a:r>
              <a:rPr lang="en-IN" sz="1800" dirty="0"/>
              <a:t> </a:t>
            </a:r>
            <a:r>
              <a:rPr lang="en-IN" sz="1800" b="1" dirty="0"/>
              <a:t>Multi-Agent AI System</a:t>
            </a:r>
            <a:r>
              <a:rPr lang="en-IN" sz="1800" dirty="0"/>
              <a:t> – Specialized AI agents collaborate to collect, </a:t>
            </a:r>
            <a:r>
              <a:rPr lang="en-IN" sz="1800" dirty="0" err="1"/>
              <a:t>analyze</a:t>
            </a:r>
            <a:r>
              <a:rPr lang="en-IN" sz="1800" dirty="0"/>
              <a:t>, predict, and generate reports automatically. </a:t>
            </a:r>
          </a:p>
          <a:p>
            <a:pPr>
              <a:buFont typeface="Arial" panose="020B0604020202020204" pitchFamily="34" charset="0"/>
              <a:buChar char="•"/>
            </a:pPr>
            <a:r>
              <a:rPr lang="en-IN" sz="1800" b="1" dirty="0"/>
              <a:t> RAG-Based Knowledge Retrieval</a:t>
            </a:r>
            <a:r>
              <a:rPr lang="en-IN" sz="1800" dirty="0"/>
              <a:t> – Users can upload PDFs, CSVs, and reports to receive accurate, context-aware answers. </a:t>
            </a:r>
          </a:p>
          <a:p>
            <a:pPr>
              <a:buFont typeface="Arial" panose="020B0604020202020204" pitchFamily="34" charset="0"/>
              <a:buChar char="•"/>
            </a:pPr>
            <a:r>
              <a:rPr lang="en-IN" sz="1800" b="1" dirty="0"/>
              <a:t> Multi-Source Data Integration</a:t>
            </a:r>
            <a:r>
              <a:rPr lang="en-IN" sz="1800" dirty="0"/>
              <a:t> – Combines news, social media, customer reviews, analyst reports, and business documents in one platform. </a:t>
            </a:r>
          </a:p>
          <a:p>
            <a:pPr>
              <a:buFont typeface="Arial" panose="020B0604020202020204" pitchFamily="34" charset="0"/>
              <a:buChar char="•"/>
            </a:pPr>
            <a:r>
              <a:rPr lang="en-IN" sz="1800" dirty="0"/>
              <a:t> </a:t>
            </a:r>
            <a:r>
              <a:rPr lang="en-IN" sz="1800" b="1" dirty="0"/>
              <a:t>Predictive Market Analytics</a:t>
            </a:r>
            <a:r>
              <a:rPr lang="en-IN" sz="1800" dirty="0"/>
              <a:t> – Uses AI to forecast market trends, demand, risks, and customer sentiment. </a:t>
            </a:r>
          </a:p>
          <a:p>
            <a:pPr>
              <a:buFont typeface="Arial" panose="020B0604020202020204" pitchFamily="34" charset="0"/>
              <a:buChar char="•"/>
            </a:pPr>
            <a:r>
              <a:rPr lang="en-IN" sz="1800" dirty="0"/>
              <a:t> </a:t>
            </a:r>
            <a:r>
              <a:rPr lang="en-IN" sz="1800" b="1" dirty="0"/>
              <a:t>Interactive Business Dashboard</a:t>
            </a:r>
            <a:r>
              <a:rPr lang="en-IN" sz="1800" dirty="0"/>
              <a:t> – Visualizes insights through real-time charts, KPIs, and analytics. </a:t>
            </a:r>
          </a:p>
          <a:p>
            <a:pPr>
              <a:buFont typeface="Arial" panose="020B0604020202020204" pitchFamily="34" charset="0"/>
              <a:buChar char="•"/>
            </a:pPr>
            <a:r>
              <a:rPr lang="en-IN" sz="1800" dirty="0"/>
              <a:t> </a:t>
            </a:r>
            <a:r>
              <a:rPr lang="en-IN" sz="1800" b="1" dirty="0"/>
              <a:t>Automated Report Generation</a:t>
            </a:r>
            <a:r>
              <a:rPr lang="en-IN" sz="1800" dirty="0"/>
              <a:t> – Instantly creates professional reports in PDF, DOCX, and PPT formats. </a:t>
            </a:r>
          </a:p>
          <a:p>
            <a:pPr>
              <a:buFont typeface="Arial" panose="020B0604020202020204" pitchFamily="34" charset="0"/>
              <a:buChar char="•"/>
            </a:pPr>
            <a:r>
              <a:rPr lang="en-IN" sz="1800" dirty="0"/>
              <a:t> </a:t>
            </a:r>
            <a:r>
              <a:rPr lang="en-IN" sz="1800" b="1" dirty="0"/>
              <a:t>IBM watsonx.ai Powered</a:t>
            </a:r>
            <a:r>
              <a:rPr lang="en-IN" sz="1800" dirty="0"/>
              <a:t> – Leverages IBM Granite LLM and IBM Orchestrate for enterprise-grade AI capabilities.</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IN" sz="2800" dirty="0">
                <a:hlinkClick r:id="rId3"/>
              </a:rPr>
              <a:t>sutharnil2-creator/Intelligent-Market-Research-Assistant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US" sz="1800" dirty="0"/>
              <a:t>The </a:t>
            </a:r>
            <a:r>
              <a:rPr lang="en-US" sz="1800" b="1" dirty="0"/>
              <a:t>Intelligent Market Research Assistant</a:t>
            </a:r>
            <a:r>
              <a:rPr lang="en-US" sz="1800" dirty="0"/>
              <a:t> can be enhanced with advanced AI capabilities to provide even smarter and more personalized business insights.</a:t>
            </a:r>
          </a:p>
          <a:p>
            <a:r>
              <a:rPr lang="en-US" sz="1800" b="1" dirty="0"/>
              <a:t>Future Enhancements</a:t>
            </a:r>
          </a:p>
          <a:p>
            <a:pPr>
              <a:buFont typeface="Arial" panose="020B0604020202020204" pitchFamily="34" charset="0"/>
              <a:buChar char="•"/>
            </a:pPr>
            <a:r>
              <a:rPr lang="en-US" sz="1800" dirty="0"/>
              <a:t> </a:t>
            </a:r>
            <a:r>
              <a:rPr lang="en-US" sz="1800" b="1" dirty="0"/>
              <a:t>Support for multiple industries</a:t>
            </a:r>
            <a:r>
              <a:rPr lang="en-US" sz="1800" dirty="0"/>
              <a:t> such as Healthcare, Agriculture, Finance, Retail, and Manufacturing. </a:t>
            </a:r>
          </a:p>
          <a:p>
            <a:pPr>
              <a:buFont typeface="Arial" panose="020B0604020202020204" pitchFamily="34" charset="0"/>
              <a:buChar char="•"/>
            </a:pPr>
            <a:r>
              <a:rPr lang="en-US" sz="1800" dirty="0"/>
              <a:t> </a:t>
            </a:r>
            <a:r>
              <a:rPr lang="en-US" sz="1800" b="1" dirty="0"/>
              <a:t>Mobile application</a:t>
            </a:r>
            <a:r>
              <a:rPr lang="en-US" sz="1800" dirty="0"/>
              <a:t> for real-time market monitoring and AI insights. </a:t>
            </a:r>
          </a:p>
          <a:p>
            <a:pPr>
              <a:buFont typeface="Arial" panose="020B0604020202020204" pitchFamily="34" charset="0"/>
              <a:buChar char="•"/>
            </a:pPr>
            <a:r>
              <a:rPr lang="en-US" sz="1800" dirty="0"/>
              <a:t> </a:t>
            </a:r>
            <a:r>
              <a:rPr lang="en-US" sz="1800" b="1" dirty="0"/>
              <a:t>Multilingual support</a:t>
            </a:r>
            <a:r>
              <a:rPr lang="en-US" sz="1800" dirty="0"/>
              <a:t> using IBM AI for global users. </a:t>
            </a:r>
          </a:p>
          <a:p>
            <a:pPr>
              <a:buFont typeface="Arial" panose="020B0604020202020204" pitchFamily="34" charset="0"/>
              <a:buChar char="•"/>
            </a:pPr>
            <a:r>
              <a:rPr lang="en-US" sz="1800" dirty="0"/>
              <a:t> </a:t>
            </a:r>
            <a:r>
              <a:rPr lang="en-US" sz="1800" b="1" dirty="0"/>
              <a:t>Advanced predictive analytics</a:t>
            </a:r>
            <a:r>
              <a:rPr lang="en-US" sz="1800" dirty="0"/>
              <a:t> for more accurate demand and sales forecasting. </a:t>
            </a:r>
          </a:p>
          <a:p>
            <a:pPr>
              <a:buFont typeface="Arial" panose="020B0604020202020204" pitchFamily="34" charset="0"/>
              <a:buChar char="•"/>
            </a:pPr>
            <a:r>
              <a:rPr lang="en-US" sz="1800" dirty="0"/>
              <a:t> </a:t>
            </a:r>
            <a:r>
              <a:rPr lang="en-US" sz="1800" b="1" dirty="0"/>
              <a:t>Real-time AI alerts</a:t>
            </a:r>
            <a:r>
              <a:rPr lang="en-US" sz="1800" dirty="0"/>
              <a:t> for market changes, competitor activities, and emerging trends. </a:t>
            </a:r>
          </a:p>
          <a:p>
            <a:pPr>
              <a:buFont typeface="Arial" panose="020B0604020202020204" pitchFamily="34" charset="0"/>
              <a:buChar char="•"/>
            </a:pPr>
            <a:r>
              <a:rPr lang="en-US" sz="1800" dirty="0"/>
              <a:t> </a:t>
            </a:r>
            <a:r>
              <a:rPr lang="en-US" sz="1800" b="1" dirty="0"/>
              <a:t>Voice-enabled AI assistant</a:t>
            </a:r>
            <a:r>
              <a:rPr lang="en-US" sz="1800" dirty="0"/>
              <a:t> for hands-free interaction. </a:t>
            </a:r>
          </a:p>
          <a:p>
            <a:pPr>
              <a:buFont typeface="Arial" panose="020B0604020202020204" pitchFamily="34" charset="0"/>
              <a:buChar char="•"/>
            </a:pPr>
            <a:r>
              <a:rPr lang="en-US" sz="1800" dirty="0"/>
              <a:t> </a:t>
            </a:r>
            <a:r>
              <a:rPr lang="en-US" sz="1800" b="1" dirty="0"/>
              <a:t>Cloud deployment</a:t>
            </a:r>
            <a:r>
              <a:rPr lang="en-US" sz="1800" dirty="0"/>
              <a:t> for improved scalability and enterprise use. </a:t>
            </a:r>
          </a:p>
          <a:p>
            <a:pPr>
              <a:buFont typeface="Arial" panose="020B0604020202020204" pitchFamily="34" charset="0"/>
              <a:buChar char="•"/>
            </a:pPr>
            <a:r>
              <a:rPr lang="en-US" sz="1800" dirty="0"/>
              <a:t> </a:t>
            </a:r>
            <a:r>
              <a:rPr lang="en-US" sz="1800" b="1" dirty="0"/>
              <a:t>Integration with ERP, CRM, and Business Intelligence tools</a:t>
            </a:r>
            <a:r>
              <a:rPr lang="en-US" sz="1800" dirty="0"/>
              <a:t> for seamless business operations. </a:t>
            </a:r>
          </a:p>
          <a:p>
            <a:pPr>
              <a:buFont typeface="Arial" panose="020B0604020202020204" pitchFamily="34" charset="0"/>
              <a:buChar char="•"/>
            </a:pPr>
            <a:r>
              <a:rPr lang="en-US" sz="1800" dirty="0"/>
              <a:t> </a:t>
            </a:r>
            <a:r>
              <a:rPr lang="en-US" sz="1800" b="1" dirty="0"/>
              <a:t>IoT and live data integration</a:t>
            </a:r>
            <a:r>
              <a:rPr lang="en-US" sz="1800" dirty="0"/>
              <a:t> for real-time business analytics. </a:t>
            </a:r>
          </a:p>
          <a:p>
            <a:pPr>
              <a:buFont typeface="Arial" panose="020B0604020202020204" pitchFamily="34" charset="0"/>
              <a:buChar char="•"/>
            </a:pPr>
            <a:r>
              <a:rPr lang="en-US" sz="1800" dirty="0"/>
              <a:t> </a:t>
            </a:r>
            <a:r>
              <a:rPr lang="en-US" sz="1800" b="1" dirty="0"/>
              <a:t>Enhanced Agentic AI</a:t>
            </a:r>
            <a:r>
              <a:rPr lang="en-US" sz="1800" dirty="0"/>
              <a:t> with autonomous decision-making and automated strategic recommendations.</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42452CA7-4912-4604-A962-FE25DFD035E7}"/>
              </a:ext>
            </a:extLst>
          </p:cNvPr>
          <p:cNvPicPr>
            <a:picLocks noChangeAspect="1"/>
          </p:cNvPicPr>
          <p:nvPr/>
        </p:nvPicPr>
        <p:blipFill>
          <a:blip r:embed="rId2"/>
          <a:stretch>
            <a:fillRect/>
          </a:stretch>
        </p:blipFill>
        <p:spPr>
          <a:xfrm>
            <a:off x="2952750" y="1071562"/>
            <a:ext cx="6286500" cy="4714875"/>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8" name="Picture 7">
            <a:extLst>
              <a:ext uri="{FF2B5EF4-FFF2-40B4-BE49-F238E27FC236}">
                <a16:creationId xmlns:a16="http://schemas.microsoft.com/office/drawing/2014/main" id="{B8A3E3BA-6C9B-4D85-8948-540B2E9A676E}"/>
              </a:ext>
            </a:extLst>
          </p:cNvPr>
          <p:cNvPicPr>
            <a:picLocks noChangeAspect="1"/>
          </p:cNvPicPr>
          <p:nvPr/>
        </p:nvPicPr>
        <p:blipFill>
          <a:blip r:embed="rId2"/>
          <a:stretch>
            <a:fillRect/>
          </a:stretch>
        </p:blipFill>
        <p:spPr>
          <a:xfrm>
            <a:off x="2755677" y="1109662"/>
            <a:ext cx="7034038" cy="4333875"/>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TotalTime>
  <Words>1229</Words>
  <Application>Microsoft Office PowerPoint</Application>
  <PresentationFormat>Widescreen</PresentationFormat>
  <Paragraphs>113</Paragraphs>
  <Slides>13</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-apple-system</vt: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241240116067</cp:lastModifiedBy>
  <cp:revision>17</cp:revision>
  <dcterms:created xsi:type="dcterms:W3CDTF">2025-07-08T05:06:56Z</dcterms:created>
  <dcterms:modified xsi:type="dcterms:W3CDTF">2026-07-11T07:34:08Z</dcterms:modified>
</cp:coreProperties>
</file>